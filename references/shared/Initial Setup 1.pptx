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0ED0BF-24E5-4F7D-8921-696EACBDA8F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005716-6286-4E07-A037-FA6D040C0AC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C937C4-740C-4F01-8975-E93EC3B4E8A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136092-0901-4E0F-A0B8-D9400C24F6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54FB9-3BE5-4E8D-A7BE-C74E1FA3D31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480FA-EF27-4E87-8E68-23EA23E4609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2E3247-86CB-4B1E-9946-E26C7E4B265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B16AA4-13AF-41BE-8C2B-54BD92E5B8F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7A00B-886E-46BF-865D-352A79CFAB0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62F309-5AA1-41DD-BCE7-EF04EDAC639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016C8D-1226-4984-9180-26FE3AAD131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BDF4B-C174-43DC-8951-4C550F2B002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3.jpeg"/><Relationship Id="rId7" Type="http://schemas.openxmlformats.org/officeDocument/2006/relationships/image" Target="../media/image3.jpeg"/><Relationship Id="rId8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37680" y="1041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Setup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Managed Switches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71"/>
          <p:cNvGrpSpPr/>
          <p:nvPr/>
        </p:nvGrpSpPr>
        <p:grpSpPr>
          <a:xfrm>
            <a:off x="1900800" y="825480"/>
            <a:ext cx="9264600" cy="5537160"/>
            <a:chOff x="1900800" y="825480"/>
            <a:chExt cx="9264600" cy="5537160"/>
          </a:xfrm>
        </p:grpSpPr>
        <p:pic>
          <p:nvPicPr>
            <p:cNvPr id="68" name="Picture 10" descr="A blue circular object with arrows&#10;&#10;AI-generated content may be incorrect."/>
            <p:cNvPicPr/>
            <p:nvPr/>
          </p:nvPicPr>
          <p:blipFill>
            <a:blip r:embed="rId1"/>
            <a:stretch/>
          </p:blipFill>
          <p:spPr>
            <a:xfrm>
              <a:off x="3074400" y="2001960"/>
              <a:ext cx="1447560" cy="816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" name="Picture 11" descr="A blue circular object with arrows&#10;&#10;AI-generated content may be incorrect."/>
            <p:cNvPicPr/>
            <p:nvPr/>
          </p:nvPicPr>
          <p:blipFill>
            <a:blip r:embed="rId2"/>
            <a:stretch/>
          </p:blipFill>
          <p:spPr>
            <a:xfrm>
              <a:off x="6549840" y="2001960"/>
              <a:ext cx="1447560" cy="816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Picture 12" descr="A blue circular object with arrows&#10;&#10;AI-generated content may be incorrect."/>
            <p:cNvPicPr/>
            <p:nvPr/>
          </p:nvPicPr>
          <p:blipFill>
            <a:blip r:embed="rId3"/>
            <a:stretch/>
          </p:blipFill>
          <p:spPr>
            <a:xfrm>
              <a:off x="3074400" y="3689280"/>
              <a:ext cx="1447560" cy="816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Picture 13" descr="A blue circular object with arrows&#10;&#10;AI-generated content may be incorrect."/>
            <p:cNvPicPr/>
            <p:nvPr/>
          </p:nvPicPr>
          <p:blipFill>
            <a:blip r:embed="rId4"/>
            <a:stretch/>
          </p:blipFill>
          <p:spPr>
            <a:xfrm>
              <a:off x="6549840" y="3689280"/>
              <a:ext cx="1447560" cy="81612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72" name="Straight Arrow Connector 15"/>
            <p:cNvCxnSpPr/>
            <p:nvPr/>
          </p:nvCxnSpPr>
          <p:spPr>
            <a:xfrm>
              <a:off x="4486320" y="2409840"/>
              <a:ext cx="2099520" cy="36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cxnSp>
          <p:nvCxnSpPr>
            <p:cNvPr id="73" name="Straight Arrow Connector 20"/>
            <p:cNvCxnSpPr/>
            <p:nvPr/>
          </p:nvCxnSpPr>
          <p:spPr>
            <a:xfrm flipV="1">
              <a:off x="3951000" y="2760840"/>
              <a:ext cx="3068640" cy="93528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cxnSp>
          <p:nvCxnSpPr>
            <p:cNvPr id="74" name="Straight Arrow Connector 22"/>
            <p:cNvCxnSpPr/>
            <p:nvPr/>
          </p:nvCxnSpPr>
          <p:spPr>
            <a:xfrm flipV="1">
              <a:off x="3644640" y="2760840"/>
              <a:ext cx="159120" cy="92844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cxnSp>
          <p:nvCxnSpPr>
            <p:cNvPr id="75" name="Straight Arrow Connector 25"/>
            <p:cNvCxnSpPr/>
            <p:nvPr/>
          </p:nvCxnSpPr>
          <p:spPr>
            <a:xfrm flipH="1" flipV="1">
              <a:off x="7142400" y="2760840"/>
              <a:ext cx="180000" cy="92844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cxnSp>
          <p:nvCxnSpPr>
            <p:cNvPr id="76" name="Straight Arrow Connector 29"/>
            <p:cNvCxnSpPr/>
            <p:nvPr/>
          </p:nvCxnSpPr>
          <p:spPr>
            <a:xfrm flipH="1" flipV="1">
              <a:off x="4165560" y="2630520"/>
              <a:ext cx="2694240" cy="113508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pic>
          <p:nvPicPr>
            <p:cNvPr id="77" name="Picture 37" descr="A computer with a blue screen&#10;&#10;AI-generated content may be incorrect."/>
            <p:cNvPicPr/>
            <p:nvPr/>
          </p:nvPicPr>
          <p:blipFill>
            <a:blip r:embed="rId5"/>
            <a:stretch/>
          </p:blipFill>
          <p:spPr>
            <a:xfrm>
              <a:off x="6695640" y="5462640"/>
              <a:ext cx="1072800" cy="900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" name="Picture 39" descr="A penguin sitting next to a computer&#10;&#10;AI-generated content may be incorrect."/>
            <p:cNvPicPr/>
            <p:nvPr/>
          </p:nvPicPr>
          <p:blipFill>
            <a:blip r:embed="rId6"/>
            <a:stretch/>
          </p:blipFill>
          <p:spPr>
            <a:xfrm>
              <a:off x="3023280" y="5120280"/>
              <a:ext cx="1242360" cy="124236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79" name="Straight Arrow Connector 40"/>
            <p:cNvCxnSpPr/>
            <p:nvPr/>
          </p:nvCxnSpPr>
          <p:spPr>
            <a:xfrm flipV="1">
              <a:off x="3767400" y="4448160"/>
              <a:ext cx="360" cy="92844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cxnSp>
          <p:nvCxnSpPr>
            <p:cNvPr id="80" name="Straight Arrow Connector 42"/>
            <p:cNvCxnSpPr/>
            <p:nvPr/>
          </p:nvCxnSpPr>
          <p:spPr>
            <a:xfrm flipH="1" flipV="1">
              <a:off x="7322040" y="4448160"/>
              <a:ext cx="79560" cy="108072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sp>
          <p:nvSpPr>
            <p:cNvPr id="81" name="TextBox 50"/>
            <p:cNvSpPr/>
            <p:nvPr/>
          </p:nvSpPr>
          <p:spPr>
            <a:xfrm>
              <a:off x="1900800" y="226152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M4350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51"/>
            <p:cNvSpPr/>
            <p:nvPr/>
          </p:nvSpPr>
          <p:spPr>
            <a:xfrm>
              <a:off x="8052840" y="226152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M4350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52"/>
            <p:cNvSpPr/>
            <p:nvPr/>
          </p:nvSpPr>
          <p:spPr>
            <a:xfrm>
              <a:off x="2126880" y="387720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M4250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53"/>
            <p:cNvSpPr/>
            <p:nvPr/>
          </p:nvSpPr>
          <p:spPr>
            <a:xfrm>
              <a:off x="7995240" y="391284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M4250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54"/>
            <p:cNvSpPr/>
            <p:nvPr/>
          </p:nvSpPr>
          <p:spPr>
            <a:xfrm>
              <a:off x="5074560" y="173772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10G Port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56"/>
            <p:cNvSpPr/>
            <p:nvPr/>
          </p:nvSpPr>
          <p:spPr>
            <a:xfrm>
              <a:off x="6458760" y="3035520"/>
              <a:ext cx="18061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10G or 1G Port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TextBox 58"/>
            <p:cNvSpPr/>
            <p:nvPr/>
          </p:nvSpPr>
          <p:spPr>
            <a:xfrm>
              <a:off x="7494840" y="4892400"/>
              <a:ext cx="17427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1G connection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TextBox 59"/>
            <p:cNvSpPr/>
            <p:nvPr/>
          </p:nvSpPr>
          <p:spPr>
            <a:xfrm>
              <a:off x="2986560" y="3040560"/>
              <a:ext cx="18061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10G or 1G Port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60"/>
            <p:cNvSpPr/>
            <p:nvPr/>
          </p:nvSpPr>
          <p:spPr>
            <a:xfrm>
              <a:off x="4686120" y="3494160"/>
              <a:ext cx="18061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10G or 1G Port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61"/>
            <p:cNvSpPr/>
            <p:nvPr/>
          </p:nvSpPr>
          <p:spPr>
            <a:xfrm>
              <a:off x="3742200" y="4892400"/>
              <a:ext cx="17427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1G connection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" name="Picture 62" descr="A penguin sitting next to a computer&#10;&#10;AI-generated content may be incorrect."/>
            <p:cNvPicPr/>
            <p:nvPr/>
          </p:nvPicPr>
          <p:blipFill>
            <a:blip r:embed="rId7"/>
            <a:stretch/>
          </p:blipFill>
          <p:spPr>
            <a:xfrm>
              <a:off x="8815680" y="825480"/>
              <a:ext cx="1242360" cy="124236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92" name="Straight Arrow Connector 63"/>
            <p:cNvCxnSpPr/>
            <p:nvPr/>
          </p:nvCxnSpPr>
          <p:spPr>
            <a:xfrm flipH="1">
              <a:off x="7768800" y="1425240"/>
              <a:ext cx="1336320" cy="796680"/>
            </a:xfrm>
            <a:prstGeom prst="straightConnector1">
              <a:avLst/>
            </a:prstGeom>
            <a:ln w="34925">
              <a:solidFill>
                <a:srgbClr val="156082"/>
              </a:solidFill>
            </a:ln>
          </p:spPr>
        </p:cxnSp>
        <p:sp>
          <p:nvSpPr>
            <p:cNvPr id="93" name="TextBox 65"/>
            <p:cNvSpPr/>
            <p:nvPr/>
          </p:nvSpPr>
          <p:spPr>
            <a:xfrm>
              <a:off x="2111040" y="5543640"/>
              <a:ext cx="124236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Linux machine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66"/>
            <p:cNvSpPr/>
            <p:nvPr/>
          </p:nvSpPr>
          <p:spPr>
            <a:xfrm>
              <a:off x="7869960" y="5602680"/>
              <a:ext cx="1242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Windows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67"/>
            <p:cNvSpPr/>
            <p:nvPr/>
          </p:nvSpPr>
          <p:spPr>
            <a:xfrm>
              <a:off x="9923040" y="1155240"/>
              <a:ext cx="124236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Linux machine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972680" y="366120"/>
            <a:ext cx="2346480" cy="64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Testbed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cxnSp>
        <p:nvCxnSpPr>
          <p:cNvPr id="97" name="Straight Arrow Connector 1"/>
          <p:cNvCxnSpPr/>
          <p:nvPr/>
        </p:nvCxnSpPr>
        <p:spPr>
          <a:xfrm>
            <a:off x="4450320" y="2511720"/>
            <a:ext cx="2099520" cy="360"/>
          </a:xfrm>
          <a:prstGeom prst="straightConnector1">
            <a:avLst/>
          </a:prstGeom>
          <a:ln w="34925">
            <a:solidFill>
              <a:srgbClr val="15608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1600200" y="914400"/>
            <a:ext cx="9144000" cy="511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0" name="Right Tri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575920" y="3335760"/>
            <a:ext cx="3291480" cy="320004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1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880" y="623160"/>
            <a:ext cx="10904760" cy="5607360"/>
          </a:xfrm>
          <a:prstGeom prst="rect">
            <a:avLst/>
          </a:prstGeom>
          <a:noFill/>
          <a:ln>
            <a:solidFill>
              <a:srgbClr val="000000">
                <a:lumMod val="75000"/>
                <a:lumOff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2" name="Title 1"/>
          <p:cNvSpPr/>
          <p:nvPr/>
        </p:nvSpPr>
        <p:spPr>
          <a:xfrm>
            <a:off x="772200" y="982440"/>
            <a:ext cx="10643760" cy="43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55000" lnSpcReduction="19999"/>
          </a:bodyPr>
          <a:p>
            <a:pPr marL="571680" indent="-571680" defTabSz="914400">
              <a:lnSpc>
                <a:spcPct val="90000"/>
              </a:lnSpc>
              <a:buClr>
                <a:srgbClr val="0e2841"/>
              </a:buClr>
              <a:buFont typeface="Wingdings" charset="2"/>
              <a:buChar char=""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All interconnects in the diagram are of traffic ports only.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90000"/>
              </a:lnSpc>
              <a:buClr>
                <a:srgbClr val="0e2841"/>
              </a:buClr>
              <a:buFont typeface="Wingdings" charset="2"/>
              <a:buChar char=""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Same speed links between M4250 and M4350 to be used. (Can be 1G or 10G but same speed and same media type)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90000"/>
              </a:lnSpc>
              <a:buClr>
                <a:srgbClr val="0e2841"/>
              </a:buClr>
              <a:buFont typeface="Wingdings" charset="2"/>
              <a:buChar char=""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Ports can be copper of fiber depending availability of the type of Managed switch that satisfies point 2 above.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90000"/>
              </a:lnSpc>
              <a:buClr>
                <a:srgbClr val="0e2841"/>
              </a:buClr>
              <a:buFont typeface="Wingdings" charset="2"/>
              <a:buChar char=""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Need Telnet/SSH access for all switches thru management port.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Suggestion: All management ports can be connected to a smart switch and then smart switch connected to a Laptop with Team viewer. Any other way is also fine.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90000"/>
              </a:lnSpc>
              <a:buClr>
                <a:srgbClr val="0e2841"/>
              </a:buClr>
              <a:buFont typeface="Wingdings" charset="2"/>
              <a:buChar char=""/>
            </a:pPr>
            <a:r>
              <a:rPr lang="en-US" sz="4000" b="0" u="none" strike="noStrike">
                <a:solidFill>
                  <a:schemeClr val="dk2"/>
                </a:solidFill>
                <a:effectLst/>
                <a:uFillTx/>
                <a:latin typeface="Aptos Display"/>
              </a:rPr>
              <a:t>Console access (wherever possible)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withEffect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4" name="Right Tri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575920" y="3335760"/>
            <a:ext cx="3291480" cy="320004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880" y="623160"/>
            <a:ext cx="10904760" cy="5607360"/>
          </a:xfrm>
          <a:prstGeom prst="rect">
            <a:avLst/>
          </a:prstGeom>
          <a:noFill/>
          <a:ln>
            <a:solidFill>
              <a:srgbClr val="000000">
                <a:lumMod val="75000"/>
                <a:lumOff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1592640" y="1346040"/>
            <a:ext cx="788004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By enabling/disabling the inter-connections, the setup can be customized for the following tests.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PTP (With PCAP injection)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IGMP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Spanning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Routing protocols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MLAG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Application>LibreOffice/25.8.4.2$Linux_X86_64 LibreOffice_project/290daaa01b999472f0c7a3890eb6a550fd74c6df</Application>
  <AppVersion>15.0000</AppVersion>
  <Words>166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2025-08-19T09:59:49Z</dcterms:created>
  <dc:creator>Rajasekar Selvarajan</dc:creator>
  <dc:description/>
  <dc:language>en-US</dc:language>
  <cp:lastModifiedBy/>
  <dcterms:modified xsi:type="dcterms:W3CDTF">2026-02-16T13:55:14Z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